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5"/>
    <p:restoredTop sz="94663"/>
  </p:normalViewPr>
  <p:slideViewPr>
    <p:cSldViewPr snapToGrid="0">
      <p:cViewPr varScale="1">
        <p:scale>
          <a:sx n="60" d="100"/>
          <a:sy n="60" d="100"/>
        </p:scale>
        <p:origin x="17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D26AC-A2D6-D466-6380-F51127B94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1749551"/>
          </a:xfrm>
        </p:spPr>
        <p:txBody>
          <a:bodyPr>
            <a:normAutofit/>
          </a:bodyPr>
          <a:lstStyle/>
          <a:p>
            <a:r>
              <a:rPr lang="en-IN" sz="3600" dirty="0"/>
              <a:t>Capstone Two Final Project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EE495-A669-3434-3239-89116617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889" y="2633472"/>
            <a:ext cx="8676222" cy="2718816"/>
          </a:xfrm>
        </p:spPr>
        <p:txBody>
          <a:bodyPr>
            <a:normAutofit/>
          </a:bodyPr>
          <a:lstStyle/>
          <a:p>
            <a:r>
              <a:rPr lang="en-IN" dirty="0"/>
              <a:t>Predicting Shipment Delivery Outcomes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Sowmya Sree Kapula</a:t>
            </a:r>
            <a:br>
              <a:rPr lang="en-IN" dirty="0"/>
            </a:br>
            <a:r>
              <a:rPr lang="en-IN" dirty="0"/>
              <a:t>March 20,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57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B92DA-9B30-9242-FF6A-C43DDD0C2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639824"/>
          </a:xfrm>
        </p:spPr>
        <p:txBody>
          <a:bodyPr>
            <a:normAutofit/>
          </a:bodyPr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D6C96-6E7C-A984-37E1-290514C09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51760"/>
            <a:ext cx="9905998" cy="2276856"/>
          </a:xfrm>
        </p:spPr>
        <p:txBody>
          <a:bodyPr/>
          <a:lstStyle/>
          <a:p>
            <a:r>
              <a:rPr lang="en-IN" dirty="0"/>
              <a:t>The goal is to predict whether a shipment will arrive on time</a:t>
            </a:r>
          </a:p>
          <a:p>
            <a:r>
              <a:rPr lang="en-IN" dirty="0"/>
              <a:t>Late deliveries increase operational costs and reduce customer satisfaction</a:t>
            </a:r>
          </a:p>
          <a:p>
            <a:r>
              <a:rPr lang="en-IN" dirty="0"/>
              <a:t>A predictive model can help improve logistics planning and efficiency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93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969E-B481-B740-BC40-583411ED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712976"/>
          </a:xfrm>
        </p:spPr>
        <p:txBody>
          <a:bodyPr>
            <a:normAutofit/>
          </a:bodyPr>
          <a:lstStyle/>
          <a:p>
            <a:r>
              <a:rPr lang="en-IN" dirty="0"/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4161-854C-8DD2-9D78-267825363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542032"/>
            <a:ext cx="9905998" cy="21884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Dataset includes shipment and customer information</a:t>
            </a:r>
          </a:p>
          <a:p>
            <a:r>
              <a:rPr lang="en-IN" dirty="0"/>
              <a:t>Target variable: </a:t>
            </a:r>
            <a:r>
              <a:rPr lang="en-IN" dirty="0" err="1"/>
              <a:t>Reached.on.Time_Y.N</a:t>
            </a:r>
            <a:endParaRPr lang="en-IN" dirty="0"/>
          </a:p>
          <a:p>
            <a:r>
              <a:rPr lang="en-IN" dirty="0"/>
              <a:t>Includes features such as product cost, shipping details, and customer data</a:t>
            </a:r>
          </a:p>
          <a:p>
            <a:r>
              <a:rPr lang="en-IN" dirty="0"/>
              <a:t>Data was cleaned and prepared for </a:t>
            </a:r>
            <a:r>
              <a:rPr lang="en-IN" dirty="0" err="1"/>
              <a:t>modeling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661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52AE-7178-E1F3-08AF-098E45ADC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698" y="390144"/>
            <a:ext cx="10416603" cy="1328928"/>
          </a:xfrm>
        </p:spPr>
        <p:txBody>
          <a:bodyPr>
            <a:normAutofit/>
          </a:bodyPr>
          <a:lstStyle/>
          <a:p>
            <a:r>
              <a:rPr lang="en-IN" dirty="0"/>
              <a:t>Data Preparation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20AA6-916B-F41E-5DA2-597382B2D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247900"/>
            <a:ext cx="9905998" cy="2362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Removed duplicates and handled missing values</a:t>
            </a:r>
          </a:p>
          <a:p>
            <a:r>
              <a:rPr lang="en-IN" dirty="0"/>
              <a:t>Converted categorical variables using one-hot encoding</a:t>
            </a:r>
          </a:p>
          <a:p>
            <a:r>
              <a:rPr lang="en-IN" dirty="0"/>
              <a:t>Split data into training and testing sets</a:t>
            </a:r>
          </a:p>
          <a:p>
            <a:r>
              <a:rPr lang="en-IN" dirty="0"/>
              <a:t>Applied feature scaling where necessary</a:t>
            </a:r>
            <a:br>
              <a:rPr lang="en-IN" dirty="0"/>
            </a:b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806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0551-16CE-BC09-1509-D56EB1596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149877"/>
            <a:ext cx="5922200" cy="1328928"/>
          </a:xfrm>
        </p:spPr>
        <p:txBody>
          <a:bodyPr>
            <a:normAutofit/>
          </a:bodyPr>
          <a:lstStyle/>
          <a:p>
            <a:r>
              <a:rPr lang="en-IN" sz="2800" dirty="0"/>
              <a:t>EXPLORATORY DATA ANALYSIS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1D575-144F-D6AD-69D0-6B2784E93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76" y="1606821"/>
            <a:ext cx="5135816" cy="3190115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IN" sz="1800" dirty="0"/>
          </a:p>
          <a:p>
            <a:pPr>
              <a:lnSpc>
                <a:spcPct val="90000"/>
              </a:lnSpc>
            </a:pPr>
            <a:r>
              <a:rPr lang="en-IN" sz="1800" dirty="0"/>
              <a:t>Examined distribution of delivery outcomes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Identified relationships between features and target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Key visualizations:</a:t>
            </a:r>
          </a:p>
          <a:p>
            <a:pPr lvl="1">
              <a:lnSpc>
                <a:spcPct val="90000"/>
              </a:lnSpc>
            </a:pPr>
            <a:r>
              <a:rPr lang="en-IN" dirty="0"/>
              <a:t>Target distribution</a:t>
            </a:r>
          </a:p>
          <a:p>
            <a:pPr lvl="1">
              <a:lnSpc>
                <a:spcPct val="90000"/>
              </a:lnSpc>
            </a:pPr>
            <a:r>
              <a:rPr lang="en-IN" dirty="0"/>
              <a:t>Feature relationship (boxplot or heatmap)</a:t>
            </a:r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66257-3EEB-F8C2-F1E0-EEC18561D2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078" y="1295708"/>
            <a:ext cx="6205061" cy="3971236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164130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EC14-B9ED-8D1B-2A4D-85FA616B1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1" y="609600"/>
            <a:ext cx="6573685" cy="1072896"/>
          </a:xfrm>
        </p:spPr>
        <p:txBody>
          <a:bodyPr>
            <a:normAutofit/>
          </a:bodyPr>
          <a:lstStyle/>
          <a:p>
            <a:r>
              <a:rPr lang="en-IN" dirty="0"/>
              <a:t>Models Evaluated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23DEA-7222-21FC-348D-40DE17A87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1" y="1682495"/>
            <a:ext cx="4148264" cy="4110075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IN" sz="1800" dirty="0"/>
          </a:p>
          <a:p>
            <a:pPr>
              <a:lnSpc>
                <a:spcPct val="90000"/>
              </a:lnSpc>
            </a:pPr>
            <a:r>
              <a:rPr lang="en-IN" sz="1800" dirty="0"/>
              <a:t>Logistic Regression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Decision Tree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Random Forest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Models were evaluated using:</a:t>
            </a:r>
          </a:p>
          <a:p>
            <a:pPr lvl="1">
              <a:lnSpc>
                <a:spcPct val="90000"/>
              </a:lnSpc>
            </a:pPr>
            <a:r>
              <a:rPr lang="en-IN" dirty="0"/>
              <a:t>Accuracy</a:t>
            </a:r>
          </a:p>
          <a:p>
            <a:pPr lvl="1">
              <a:lnSpc>
                <a:spcPct val="90000"/>
              </a:lnSpc>
            </a:pPr>
            <a:r>
              <a:rPr lang="en-IN" dirty="0"/>
              <a:t>Precision</a:t>
            </a:r>
          </a:p>
          <a:p>
            <a:pPr lvl="1">
              <a:lnSpc>
                <a:spcPct val="90000"/>
              </a:lnSpc>
            </a:pPr>
            <a:r>
              <a:rPr lang="en-IN" dirty="0"/>
              <a:t>Recall</a:t>
            </a:r>
          </a:p>
          <a:p>
            <a:pPr lvl="1">
              <a:lnSpc>
                <a:spcPct val="90000"/>
              </a:lnSpc>
            </a:pPr>
            <a:r>
              <a:rPr lang="en-IN" dirty="0"/>
              <a:t>F1 Score</a:t>
            </a:r>
          </a:p>
          <a:p>
            <a:pPr>
              <a:lnSpc>
                <a:spcPct val="90000"/>
              </a:lnSpc>
            </a:pP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6222EE-DF48-FAB1-801F-53E05B6BB0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656" y="1458145"/>
            <a:ext cx="6298971" cy="4110076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431925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EB65C-44E7-C9A9-A2E3-B81B5679B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773" y="310896"/>
            <a:ext cx="5113083" cy="987552"/>
          </a:xfrm>
        </p:spPr>
        <p:txBody>
          <a:bodyPr/>
          <a:lstStyle/>
          <a:p>
            <a:r>
              <a:rPr lang="en-IN" dirty="0"/>
              <a:t>Final Model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6E43C-9FFD-6A1F-2218-423C8DFDA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773" y="1782581"/>
            <a:ext cx="4802187" cy="373075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Random Forest performed best overall</a:t>
            </a:r>
          </a:p>
          <a:p>
            <a:r>
              <a:rPr lang="en-IN" sz="1900" dirty="0"/>
              <a:t>Highest</a:t>
            </a:r>
            <a:r>
              <a:rPr lang="en-IN" dirty="0"/>
              <a:t> F1 score among all models</a:t>
            </a:r>
          </a:p>
          <a:p>
            <a:r>
              <a:rPr lang="en-IN" dirty="0"/>
              <a:t>Provides strong balance between precision and recall</a:t>
            </a:r>
          </a:p>
          <a:p>
            <a:r>
              <a:rPr lang="en-IN" b="1" dirty="0"/>
              <a:t>Key Metrics:</a:t>
            </a:r>
            <a:endParaRPr lang="en-IN" dirty="0"/>
          </a:p>
          <a:p>
            <a:r>
              <a:rPr lang="en-IN" dirty="0"/>
              <a:t>Accuracy: 0.68</a:t>
            </a:r>
          </a:p>
          <a:p>
            <a:r>
              <a:rPr lang="en-IN" dirty="0"/>
              <a:t>F1 Score: 0.68</a:t>
            </a:r>
          </a:p>
          <a:p>
            <a:r>
              <a:rPr lang="en-IN" dirty="0"/>
              <a:t>ROC AUC: 0.75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9DA841-11A0-8688-541F-571C27704A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856" y="1523005"/>
            <a:ext cx="6056105" cy="4249907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501963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BF45-AD5E-80C6-BB75-E91DDE3E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98704"/>
            <a:ext cx="9905998" cy="1237488"/>
          </a:xfrm>
        </p:spPr>
        <p:txBody>
          <a:bodyPr/>
          <a:lstStyle/>
          <a:p>
            <a:r>
              <a:rPr lang="en-IN" dirty="0"/>
              <a:t>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01C1C-7D3D-47A5-70B3-29B1EDAAA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01953"/>
            <a:ext cx="9905998" cy="2980943"/>
          </a:xfrm>
        </p:spPr>
        <p:txBody>
          <a:bodyPr/>
          <a:lstStyle/>
          <a:p>
            <a:r>
              <a:rPr lang="en-IN" dirty="0"/>
              <a:t>Focus on key factors influencing delivery performance</a:t>
            </a:r>
          </a:p>
          <a:p>
            <a:r>
              <a:rPr lang="en-IN" dirty="0"/>
              <a:t>Use predictive </a:t>
            </a:r>
            <a:r>
              <a:rPr lang="en-IN" dirty="0" err="1"/>
              <a:t>modeling</a:t>
            </a:r>
            <a:r>
              <a:rPr lang="en-IN" dirty="0"/>
              <a:t> to improve logistics planning</a:t>
            </a:r>
          </a:p>
          <a:p>
            <a:r>
              <a:rPr lang="en-IN" dirty="0"/>
              <a:t>Collect additional data (e.g., traffic, weather) to improve accuracy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507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57F6-55EA-A436-75E7-C55643732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72896"/>
          </a:xfrm>
        </p:spPr>
        <p:txBody>
          <a:bodyPr/>
          <a:lstStyle/>
          <a:p>
            <a:pPr algn="ctr"/>
            <a:r>
              <a:rPr lang="en-IN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CD7D5-574E-192D-22E3-6ED302746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89050"/>
            <a:ext cx="9905998" cy="2918425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Machine learning can effectively predict shipment outcomes</a:t>
            </a:r>
          </a:p>
          <a:p>
            <a:r>
              <a:rPr lang="en-IN" dirty="0"/>
              <a:t>Random Forest provided the best performance</a:t>
            </a:r>
          </a:p>
          <a:p>
            <a:r>
              <a:rPr lang="en-IN" dirty="0"/>
              <a:t>Future improvements can enhance model accuracy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7382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35</TotalTime>
  <Words>246</Words>
  <Application>Microsoft Macintosh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Mesh</vt:lpstr>
      <vt:lpstr>Capstone Two Final Project</vt:lpstr>
      <vt:lpstr>Problem Statement</vt:lpstr>
      <vt:lpstr>Dataset Overview</vt:lpstr>
      <vt:lpstr>Data Preparation</vt:lpstr>
      <vt:lpstr>EXPLORATORY DATA ANALYSIS</vt:lpstr>
      <vt:lpstr>Models Evaluated </vt:lpstr>
      <vt:lpstr>Final Model Selection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Kapula, Sowmya</dc:creator>
  <cp:lastModifiedBy>Kapula, Sowmya</cp:lastModifiedBy>
  <cp:revision>4</cp:revision>
  <dcterms:created xsi:type="dcterms:W3CDTF">2026-03-20T20:14:59Z</dcterms:created>
  <dcterms:modified xsi:type="dcterms:W3CDTF">2026-03-20T20:51:27Z</dcterms:modified>
</cp:coreProperties>
</file>